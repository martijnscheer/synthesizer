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274" r:id="rId6"/>
    <p:sldId id="276" r:id="rId7"/>
    <p:sldId id="266" r:id="rId8"/>
    <p:sldId id="267" r:id="rId9"/>
    <p:sldId id="277" r:id="rId10"/>
    <p:sldId id="268" r:id="rId11"/>
    <p:sldId id="294" r:id="rId12"/>
    <p:sldId id="303" r:id="rId13"/>
    <p:sldId id="295" r:id="rId14"/>
    <p:sldId id="297" r:id="rId15"/>
    <p:sldId id="300" r:id="rId16"/>
    <p:sldId id="298" r:id="rId17"/>
    <p:sldId id="302" r:id="rId18"/>
    <p:sldId id="299" r:id="rId19"/>
    <p:sldId id="272" r:id="rId20"/>
    <p:sldId id="293" r:id="rId21"/>
    <p:sldId id="30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FD5806-E39D-9D55-EB27-ED152A8722D8}" v="12" dt="2024-10-16T08:06:25.858"/>
    <p1510:client id="{3CF4390D-30F1-9BE4-CF95-4A822503FE8E}" v="298" dt="2024-10-15T18:20:24.364"/>
    <p1510:client id="{77A460C9-A47E-42A7-8329-35BFDA902C39}" v="85" dt="2024-10-15T21:35:41.260"/>
    <p1510:client id="{EFCF0E7A-E5BD-41F2-8109-CF58CFB1EB92}" v="24" dt="2024-10-16T08:35:10.1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nl-NL"/>
              <a:t>Klik op het pictogram als u een tabel wilt toevoegen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nl-NL"/>
              <a:t>Klik op het pictogram als u een tabel wilt toevoegen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 kern="1200" cap="all" spc="150" baseline="0" noProof="0">
                <a:latin typeface="+mj-lt"/>
                <a:ea typeface="+mj-ea"/>
                <a:cs typeface="+mj-cs"/>
              </a:rPr>
              <a:t>Project Ingenieursbureau</a:t>
            </a:r>
            <a:br>
              <a:rPr lang="nl-NL" kern="1200" cap="all" spc="150" baseline="0" noProof="0">
                <a:latin typeface="+mj-lt"/>
                <a:ea typeface="+mj-ea"/>
                <a:cs typeface="+mj-cs"/>
              </a:rPr>
            </a:br>
            <a:r>
              <a:rPr lang="nl-NL" kern="1200" cap="all" spc="150" baseline="0" noProof="0">
                <a:latin typeface="+mj-lt"/>
                <a:ea typeface="+mj-ea"/>
                <a:cs typeface="+mj-cs"/>
              </a:rPr>
              <a:t>VCF Ontwerp</a:t>
            </a:r>
          </a:p>
        </p:txBody>
      </p:sp>
      <p:pic>
        <p:nvPicPr>
          <p:cNvPr id="7" name="Afbeelding 6" descr="Afbeelding met kunst, Graphics, schermopname, grafische vormgeving&#10;&#10;Automatisch gegenereerde beschrijving">
            <a:extLst>
              <a:ext uri="{FF2B5EF4-FFF2-40B4-BE49-F238E27FC236}">
                <a16:creationId xmlns:a16="http://schemas.microsoft.com/office/drawing/2014/main" id="{AF969CB7-A7C4-DFC9-6F98-5212149BA5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74" r="6087" b="1"/>
          <a:stretch/>
        </p:blipFill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  <a:noFill/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10DEB1CA-260B-390D-D05D-BB4B234D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nl-NL" noProof="0" smtClean="0"/>
              <a:pPr>
                <a:spcAft>
                  <a:spcPts val="600"/>
                </a:spcAft>
              </a:pPr>
              <a:t>1</a:t>
            </a:fld>
            <a:endParaRPr lang="nl-NL" noProof="0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F1726A9C-7CE2-5CC8-FD1A-D592CCE9C900}"/>
              </a:ext>
            </a:extLst>
          </p:cNvPr>
          <p:cNvSpPr txBox="1">
            <a:spLocks/>
          </p:cNvSpPr>
          <p:nvPr/>
        </p:nvSpPr>
        <p:spPr>
          <a:xfrm>
            <a:off x="5453725" y="3660774"/>
            <a:ext cx="5907176" cy="2536826"/>
          </a:xfrm>
          <a:prstGeom prst="rect">
            <a:avLst/>
          </a:prstGeom>
        </p:spPr>
        <p:txBody>
          <a:bodyPr vert="horz" lIns="91440" tIns="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800" b="0" spc="50" noProof="0"/>
              <a:t>Opdrachtgever: Windesheim 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800" b="0" spc="50" noProof="0"/>
              <a:t>Bedrijf: </a:t>
            </a:r>
            <a:r>
              <a:rPr lang="nl-NL" sz="1800" b="0" spc="50" noProof="0" err="1"/>
              <a:t>Pulse</a:t>
            </a:r>
            <a:r>
              <a:rPr lang="nl-NL" sz="1800" b="0" spc="50" noProof="0"/>
              <a:t> </a:t>
            </a:r>
            <a:r>
              <a:rPr lang="nl-NL" sz="1800" b="0" spc="50" noProof="0" err="1"/>
              <a:t>Soundworks</a:t>
            </a:r>
            <a:endParaRPr lang="nl-NL" sz="1800" b="0" spc="50" noProof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800" b="0" spc="50" noProof="0"/>
              <a:t>Datum: </a:t>
            </a:r>
            <a:r>
              <a:rPr lang="nl-NL" sz="1800" spc="50"/>
              <a:t>16-10-’24</a:t>
            </a:r>
            <a:endParaRPr lang="nl-NL" sz="1800" b="0" spc="50" noProof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800" b="0" spc="50" noProof="0" err="1"/>
              <a:t>Diémo</a:t>
            </a:r>
            <a:r>
              <a:rPr lang="nl-NL" sz="1800" b="0" spc="50" noProof="0"/>
              <a:t> Rijsdijk: 1200704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800" b="0" spc="50" noProof="0"/>
              <a:t>Jens </a:t>
            </a:r>
            <a:r>
              <a:rPr lang="nl-NL" sz="1800" b="0" spc="50" noProof="0" err="1"/>
              <a:t>Kuizenga</a:t>
            </a:r>
            <a:r>
              <a:rPr lang="nl-NL" sz="1800" b="0" spc="50" noProof="0"/>
              <a:t>: 1175555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D3F92-90AC-029E-78AD-CC817C94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Inhoud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879E1-BA58-835A-11E3-CAB549572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359053"/>
            <a:ext cx="3342640" cy="4180896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Inleiding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Opdracht en doelstelling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 err="1"/>
              <a:t>PvE</a:t>
            </a:r>
            <a:endParaRPr lang="nl-NL" noProof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Beperkingen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/>
              <a:t>Schema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/>
              <a:t>Onderbouwing componenten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/>
              <a:t>Beschikbaarheid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/>
              <a:t>Metingen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/>
              <a:t>Voldoen aan eisen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/>
              <a:t>Demonstratie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0D399-33D4-8A23-3AC6-1E9CFB47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2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282131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9F0110-7B0B-9CA5-69F3-07B847E49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A42AD67-B233-B8C3-CB30-3A15258CA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5800034" cy="326958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Voor het vak PIB gaan wij een synthesizer bouwen waarvan wij het filter gaan maken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Het doel van het project is het produceren van een effectfilter module voor een modulaire </a:t>
            </a:r>
            <a:r>
              <a:rPr lang="nl-NL" noProof="0" err="1"/>
              <a:t>synth</a:t>
            </a:r>
            <a:r>
              <a:rPr lang="nl-NL" noProof="0"/>
              <a:t> die de kantelfrequentie kan regelen via een interface en via een input door middel van een spanning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Aan het eind van het project wordt er een werkende </a:t>
            </a:r>
            <a:r>
              <a:rPr lang="nl-NL" noProof="0" err="1"/>
              <a:t>synth</a:t>
            </a:r>
            <a:r>
              <a:rPr lang="nl-NL" noProof="0"/>
              <a:t> opgeleverd.</a:t>
            </a:r>
            <a:endParaRPr lang="nl-NL" noProof="0">
              <a:solidFill>
                <a:srgbClr val="FF0000"/>
              </a:solidFill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73F3BDC-1751-2A5C-38BD-735F2625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3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672710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EC5D-AD0E-4D6E-217A-2B11B3B11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Opdracht en doelstelling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C3D55-A225-7389-CAC7-150A38A5C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nl-NL" noProof="0"/>
              <a:t>High-pass en Low-pass</a:t>
            </a:r>
          </a:p>
          <a:p>
            <a:pPr marL="285750" indent="-285750">
              <a:buFontTx/>
              <a:buChar char="-"/>
            </a:pPr>
            <a:r>
              <a:rPr lang="nl-NL" noProof="0"/>
              <a:t>Low-pass </a:t>
            </a:r>
            <a:r>
              <a:rPr lang="nl-NL" noProof="0" err="1"/>
              <a:t>spanningsgestuurd</a:t>
            </a:r>
            <a:endParaRPr lang="nl-NL" noProof="0"/>
          </a:p>
          <a:p>
            <a:pPr marL="285750" indent="-285750">
              <a:buFontTx/>
              <a:buChar char="-"/>
            </a:pPr>
            <a:r>
              <a:rPr lang="nl-NL" noProof="0"/>
              <a:t>3</a:t>
            </a:r>
            <a:r>
              <a:rPr lang="nl-NL" baseline="30000" noProof="0"/>
              <a:t>e</a:t>
            </a:r>
            <a:r>
              <a:rPr lang="nl-NL" noProof="0"/>
              <a:t> orde</a:t>
            </a:r>
          </a:p>
          <a:p>
            <a:pPr marL="285750" indent="-285750">
              <a:buFontTx/>
              <a:buChar char="-"/>
            </a:pPr>
            <a:r>
              <a:rPr lang="nl-NL" noProof="0"/>
              <a:t>Tevredenheid klant </a:t>
            </a:r>
            <a:r>
              <a:rPr lang="nl-NL" noProof="0">
                <a:sym typeface="Wingdings" panose="05000000000000000000" pitchFamily="2" charset="2"/>
              </a:rPr>
              <a:t> werkend product</a:t>
            </a:r>
          </a:p>
          <a:p>
            <a:pPr marL="285750" indent="-285750">
              <a:buFontTx/>
              <a:buChar char="-"/>
            </a:pPr>
            <a:r>
              <a:rPr lang="nl-NL" noProof="0">
                <a:sym typeface="Wingdings" panose="05000000000000000000" pitchFamily="2" charset="2"/>
              </a:rPr>
              <a:t>Einddatum</a:t>
            </a:r>
            <a:endParaRPr lang="nl-NL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174B3-D30E-B3FA-3524-7A160ACA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4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51205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BA88-CAE5-2210-49BB-F2188FFBB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4574208" cy="1325563"/>
          </a:xfrm>
        </p:spPr>
        <p:txBody>
          <a:bodyPr/>
          <a:lstStyle/>
          <a:p>
            <a:r>
              <a:rPr lang="nl-NL" noProof="0"/>
              <a:t>Programma van eisen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B3665-D1BB-5F5B-E2E7-C67DEDFD2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5</a:t>
            </a:fld>
            <a:endParaRPr lang="nl-NL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167CD3-5EED-C553-0604-CD90C911615E}"/>
              </a:ext>
            </a:extLst>
          </p:cNvPr>
          <p:cNvSpPr txBox="1">
            <a:spLocks/>
          </p:cNvSpPr>
          <p:nvPr/>
        </p:nvSpPr>
        <p:spPr>
          <a:xfrm>
            <a:off x="1331291" y="2340500"/>
            <a:ext cx="4574208" cy="438498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noProof="0"/>
              <a:t>Functionele Eisen:</a:t>
            </a:r>
          </a:p>
          <a:p>
            <a:pPr marL="342900" indent="-342900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nl-NL" noProof="0"/>
              <a:t>Een laagdoorlaat- en </a:t>
            </a:r>
            <a:r>
              <a:rPr lang="nl-NL" noProof="0" err="1"/>
              <a:t>hoogdoorlaatfilter</a:t>
            </a:r>
            <a:r>
              <a:rPr lang="nl-NL" noProof="0"/>
              <a:t> of bandfilter in één module</a:t>
            </a:r>
          </a:p>
          <a:p>
            <a:pPr marL="342900" lvl="0" indent="-342900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nl-NL" noProof="0"/>
              <a:t>De kantelfrequentie van de low-pass is instelbaar met een extern stuursignaal</a:t>
            </a:r>
          </a:p>
          <a:p>
            <a:pPr marL="342900" lvl="0" indent="-342900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nl-NL" noProof="0"/>
              <a:t>Kantelfrequentie van beide filters is instelbaar met een potmeter</a:t>
            </a:r>
          </a:p>
          <a:p>
            <a:pPr marL="342900" lvl="0" indent="-342900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nl-NL" noProof="0"/>
              <a:t>Een bandbreedte van ten minste 4 octaven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nl-NL" noProof="0"/>
              <a:t>De kantelfrequentie is instelbaar van 100Hz-5kHz</a:t>
            </a:r>
          </a:p>
          <a:p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195075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023DC5-C9C2-3102-902D-C352261F2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4518991" cy="1347649"/>
          </a:xfrm>
        </p:spPr>
        <p:txBody>
          <a:bodyPr/>
          <a:lstStyle/>
          <a:p>
            <a:r>
              <a:rPr lang="nl-NL" noProof="0"/>
              <a:t>Programma van eisen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DA09ED2-942F-6DE4-E8C7-5484B2DDC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6</a:t>
            </a:fld>
            <a:endParaRPr lang="nl-NL" noProof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C281FF-E138-0A50-B80B-B6E0B5E47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0681" y="2384673"/>
            <a:ext cx="4507947" cy="39763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nl-NL" noProof="0"/>
              <a:t>Niet-functionele Eisen</a:t>
            </a:r>
          </a:p>
          <a:p>
            <a:pPr marL="342900" lvl="0" indent="-342900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nl-NL" noProof="0"/>
              <a:t>Veilige spanningen voor de gebruiker.</a:t>
            </a:r>
          </a:p>
          <a:p>
            <a:pPr marL="342900" lvl="0" indent="-342900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nl-NL" noProof="0"/>
              <a:t>De Maximale kosten bedragen 50€.</a:t>
            </a:r>
          </a:p>
          <a:p>
            <a:pPr marL="342900" lvl="0" indent="-342900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nl-NL" noProof="0"/>
              <a:t>De volledige constructie moet ten miste tilbaar zijn door één persoon.</a:t>
            </a:r>
          </a:p>
          <a:p>
            <a:pPr marL="342900" lvl="0" indent="-342900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nl-NL" noProof="0"/>
              <a:t>De pcb’s zijn zichtbaar te maken zonder demontage</a:t>
            </a:r>
          </a:p>
          <a:p>
            <a:pPr marL="342900" lvl="0" indent="-342900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nl-NL" noProof="0"/>
              <a:t>Modulair systeem.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nl-NL" noProof="0"/>
              <a:t>3.5mm jack connectoren voor signalen.</a:t>
            </a:r>
          </a:p>
        </p:txBody>
      </p:sp>
    </p:spTree>
    <p:extLst>
      <p:ext uri="{BB962C8B-B14F-4D97-AF65-F5344CB8AC3E}">
        <p14:creationId xmlns:p14="http://schemas.microsoft.com/office/powerpoint/2010/main" val="1529519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4E00F-13BE-0648-B9F2-84443457D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/>
              <a:t>beperkingen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19EA6-5F28-53A1-4325-2819B550B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674013"/>
            <a:ext cx="5320219" cy="3269589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nl-NL" noProof="0"/>
              <a:t>Componenten die bij Windesheim op voorraad zijn</a:t>
            </a:r>
          </a:p>
          <a:p>
            <a:pPr marL="285750" indent="-285750">
              <a:buFontTx/>
              <a:buChar char="-"/>
            </a:pPr>
            <a:r>
              <a:rPr lang="nl-NL" noProof="0"/>
              <a:t>PCB-ontwerp voldoet aan de door de fabrikant gestelde beperkingen</a:t>
            </a:r>
          </a:p>
          <a:p>
            <a:pPr marL="285750" indent="-285750">
              <a:buFontTx/>
              <a:buChar char="-"/>
            </a:pPr>
            <a:r>
              <a:rPr lang="nl-NL" noProof="0"/>
              <a:t>Geen end-of-life componenten</a:t>
            </a:r>
          </a:p>
          <a:p>
            <a:pPr marL="285750" indent="-285750">
              <a:buFontTx/>
              <a:buChar char="-"/>
            </a:pPr>
            <a:r>
              <a:rPr lang="nl-NL" noProof="0"/>
              <a:t>Max. afmetingen </a:t>
            </a:r>
            <a:r>
              <a:rPr lang="nl-NL" noProof="0">
                <a:sym typeface="Wingdings" panose="05000000000000000000" pitchFamily="2" charset="2"/>
              </a:rPr>
              <a:t> behuizing</a:t>
            </a:r>
            <a:endParaRPr lang="nl-NL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D105F-5C74-112A-874C-F8EEF66F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7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838406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E5A9B-6E0F-4BE0-C78C-B87872F77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22" y="0"/>
            <a:ext cx="1706880" cy="533083"/>
          </a:xfrm>
        </p:spPr>
        <p:txBody>
          <a:bodyPr/>
          <a:lstStyle/>
          <a:p>
            <a:r>
              <a:rPr lang="en-US" dirty="0"/>
              <a:t>Schema</a:t>
            </a:r>
            <a:endParaRPr lang="en-NL" dirty="0"/>
          </a:p>
        </p:txBody>
      </p:sp>
      <p:pic>
        <p:nvPicPr>
          <p:cNvPr id="5" name="Tijdelijke aanduiding voor inhoud 4" descr="Afbeelding met tekst, diagram, lijn, Plan&#10;&#10;Automatisch gegenereerde beschrijving">
            <a:extLst>
              <a:ext uri="{FF2B5EF4-FFF2-40B4-BE49-F238E27FC236}">
                <a16:creationId xmlns:a16="http://schemas.microsoft.com/office/drawing/2014/main" id="{137A1593-DD37-5697-ADD4-23DEA43C82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2631" y="674986"/>
            <a:ext cx="8554720" cy="60382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D1DDB-19F9-1365-5B94-845A42ABC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Afbeelding 2" descr="Afbeelding met tekst, diagram, kaart, schermopname&#10;&#10;Automatisch gegenereerde beschrijving">
            <a:extLst>
              <a:ext uri="{FF2B5EF4-FFF2-40B4-BE49-F238E27FC236}">
                <a16:creationId xmlns:a16="http://schemas.microsoft.com/office/drawing/2014/main" id="{EF72F8E5-97EB-6619-29DE-B288E95AD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897" y="528320"/>
            <a:ext cx="9596526" cy="619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05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FDCA8A-6BC7-E379-52EE-20460E7DC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61" y="4444"/>
            <a:ext cx="2034209" cy="618781"/>
          </a:xfrm>
        </p:spPr>
        <p:txBody>
          <a:bodyPr/>
          <a:lstStyle/>
          <a:p>
            <a:r>
              <a:rPr lang="nl-NL"/>
              <a:t>Schema</a:t>
            </a:r>
          </a:p>
        </p:txBody>
      </p:sp>
      <p:pic>
        <p:nvPicPr>
          <p:cNvPr id="5" name="Tijdelijke aanduiding voor inhoud 4" descr="Afbeelding met tekst, schermopname, diagram, scherm&#10;&#10;Automatisch gegenereerde beschrijving">
            <a:extLst>
              <a:ext uri="{FF2B5EF4-FFF2-40B4-BE49-F238E27FC236}">
                <a16:creationId xmlns:a16="http://schemas.microsoft.com/office/drawing/2014/main" id="{8C8031B4-4BD5-4EA9-5DF1-892EAB87CE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0019" y="602283"/>
            <a:ext cx="8505686" cy="5933855"/>
          </a:xfr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1618812-CCA8-1B37-CAB9-B3BCA00E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15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45E4A-68D2-E382-09A2-74E8FE620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10163" cy="1325563"/>
          </a:xfrm>
        </p:spPr>
        <p:txBody>
          <a:bodyPr/>
          <a:lstStyle/>
          <a:p>
            <a:r>
              <a:rPr lang="en-US" err="1"/>
              <a:t>Onderbouwing</a:t>
            </a:r>
            <a:r>
              <a:rPr lang="en-US"/>
              <a:t> </a:t>
            </a:r>
            <a:r>
              <a:rPr lang="en-US" err="1"/>
              <a:t>componenten</a:t>
            </a:r>
            <a:br>
              <a:rPr lang="en-US"/>
            </a:br>
            <a:r>
              <a:rPr lang="en-US" sz="1000"/>
              <a:t>input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423A4-AAF4-5828-AA3F-FE342A993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3952875" cy="32695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err="1"/>
              <a:t>Ingangsfilter</a:t>
            </a:r>
            <a:r>
              <a:rPr lang="en-US"/>
              <a:t> &gt; ~20Hz</a:t>
            </a:r>
          </a:p>
          <a:p>
            <a:pPr marL="285750" indent="-285750">
              <a:buFontTx/>
              <a:buChar char="-"/>
            </a:pPr>
            <a:r>
              <a:rPr lang="en-US" err="1"/>
              <a:t>Spanningsdeler</a:t>
            </a:r>
            <a:r>
              <a:rPr lang="en-US"/>
              <a:t> --&gt; 400mVpp</a:t>
            </a:r>
          </a:p>
          <a:p>
            <a:pPr marL="285750" indent="-285750">
              <a:buFontTx/>
              <a:buChar char="-"/>
            </a:pPr>
            <a:r>
              <a:rPr lang="en-US"/>
              <a:t>Offset --&gt; ~1.5-2.5V</a:t>
            </a:r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4C3D4-1C3E-2A82-7A85-E564E62C1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823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074B7-4C1A-D38A-AA2A-3BE607ACB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C7923-0BCC-363D-835C-610671471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10163" cy="1325563"/>
          </a:xfrm>
        </p:spPr>
        <p:txBody>
          <a:bodyPr/>
          <a:lstStyle/>
          <a:p>
            <a:r>
              <a:rPr lang="en-US" err="1"/>
              <a:t>Onderbouwing</a:t>
            </a:r>
            <a:r>
              <a:rPr lang="en-US"/>
              <a:t> </a:t>
            </a:r>
            <a:r>
              <a:rPr lang="en-US" err="1"/>
              <a:t>componenten</a:t>
            </a:r>
            <a:br>
              <a:rPr lang="en-US"/>
            </a:br>
            <a:r>
              <a:rPr lang="en-US" sz="1000" err="1"/>
              <a:t>diodeladder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06FBD-7EB4-2D90-CCA2-BAEB2FEE4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err="1"/>
              <a:t>Condensatoren</a:t>
            </a: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Diodes</a:t>
            </a:r>
          </a:p>
          <a:p>
            <a:pPr marL="285750" indent="-285750">
              <a:buFontTx/>
              <a:buChar char="-"/>
            </a:pPr>
            <a:r>
              <a:rPr lang="en-US" err="1"/>
              <a:t>Outputversterking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AD0E5-8E7E-128F-9B91-1674AB7E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 descr="A diagram of a voltage&#10;&#10;Description automatically generated">
            <a:extLst>
              <a:ext uri="{FF2B5EF4-FFF2-40B4-BE49-F238E27FC236}">
                <a16:creationId xmlns:a16="http://schemas.microsoft.com/office/drawing/2014/main" id="{D89457F2-4C91-C457-1E51-F0C4B8083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477" y="1791573"/>
            <a:ext cx="4640982" cy="456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181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FA8676-E8E3-48D0-8B98-7C18589F1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3525078" cy="1325563"/>
          </a:xfrm>
        </p:spPr>
        <p:txBody>
          <a:bodyPr/>
          <a:lstStyle/>
          <a:p>
            <a:r>
              <a:rPr lang="nl-NL"/>
              <a:t>Beschikbaarheid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2938A43-9AF0-BACE-C575-AA85AE24E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3962400" cy="32695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/>
              <a:t>TL072H: Circa 30.000 (15-10-'24) Bij </a:t>
            </a:r>
            <a:r>
              <a:rPr lang="nl-NL" err="1"/>
              <a:t>Mouser</a:t>
            </a:r>
            <a:endParaRPr lang="nl-NL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/>
              <a:t>BAV99: Circa 65.000 (15-10-'24) bij </a:t>
            </a:r>
            <a:r>
              <a:rPr lang="nl-NL" err="1"/>
              <a:t>Mouser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/>
              <a:t>Weerstanden, condensatoren en overige diodes beschikbaar bij de Werkplaats 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C1D5643-50DC-3EC4-E8B4-5288D5AFD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13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6F041-1FAF-A950-E852-D9174FD7A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Metingen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F6D20-8428-7567-EEE5-3969F8B5D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/>
              <a:t>Is het </a:t>
            </a:r>
            <a:r>
              <a:rPr lang="en-US" err="1"/>
              <a:t>meetbaar</a:t>
            </a:r>
            <a:r>
              <a:rPr lang="en-US"/>
              <a:t>?</a:t>
            </a:r>
          </a:p>
          <a:p>
            <a:pPr marL="285750" indent="-285750">
              <a:buFontTx/>
              <a:buChar char="-"/>
            </a:pPr>
            <a:r>
              <a:rPr lang="en-US"/>
              <a:t>THD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6C9CB-E912-E674-FFAF-42D8CA471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26F30E-F50B-BA58-A88F-3EE752005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" y="4877751"/>
            <a:ext cx="10988040" cy="1661160"/>
          </a:xfrm>
          <a:prstGeom prst="rect">
            <a:avLst/>
          </a:prstGeom>
        </p:spPr>
      </p:pic>
      <p:pic>
        <p:nvPicPr>
          <p:cNvPr id="9" name="Picture 8" descr="A screenshot of a graph&#10;&#10;Description automatically generated">
            <a:extLst>
              <a:ext uri="{FF2B5EF4-FFF2-40B4-BE49-F238E27FC236}">
                <a16:creationId xmlns:a16="http://schemas.microsoft.com/office/drawing/2014/main" id="{57269066-8976-02B5-6A87-CCCCCD4C8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660859" y="1850388"/>
            <a:ext cx="2438400" cy="3251200"/>
          </a:xfrm>
          <a:prstGeom prst="rect">
            <a:avLst/>
          </a:prstGeom>
        </p:spPr>
      </p:pic>
      <p:pic>
        <p:nvPicPr>
          <p:cNvPr id="11" name="Picture 10" descr="A screen shot of a graph&#10;&#10;Description automatically generated">
            <a:extLst>
              <a:ext uri="{FF2B5EF4-FFF2-40B4-BE49-F238E27FC236}">
                <a16:creationId xmlns:a16="http://schemas.microsoft.com/office/drawing/2014/main" id="{FA20A4A2-07D4-7465-E887-74DA3BB8B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367020" y="1850388"/>
            <a:ext cx="2438400" cy="3251200"/>
          </a:xfrm>
          <a:prstGeom prst="rect">
            <a:avLst/>
          </a:prstGeom>
        </p:spPr>
      </p:pic>
      <p:pic>
        <p:nvPicPr>
          <p:cNvPr id="5" name="Picture 4" descr="A math equations on a graph paper&#10;&#10;Description automatically generated">
            <a:extLst>
              <a:ext uri="{FF2B5EF4-FFF2-40B4-BE49-F238E27FC236}">
                <a16:creationId xmlns:a16="http://schemas.microsoft.com/office/drawing/2014/main" id="{4F62917A-6A6E-D773-4CE7-66BAC767B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0550" y="257175"/>
            <a:ext cx="324802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19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8DB2A-9E6E-A33B-7FF2-6E5C97A1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Metingen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815F9-8C69-15DA-FCA3-0A24B4B2F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- </a:t>
            </a:r>
            <a:r>
              <a:rPr lang="en-US" err="1"/>
              <a:t>Vergelijking</a:t>
            </a:r>
            <a:r>
              <a:rPr lang="en-US"/>
              <a:t> met “</a:t>
            </a:r>
            <a:r>
              <a:rPr lang="en-US" err="1"/>
              <a:t>normaal</a:t>
            </a:r>
            <a:r>
              <a:rPr lang="en-US"/>
              <a:t>” 3e </a:t>
            </a:r>
            <a:r>
              <a:rPr lang="en-US" err="1"/>
              <a:t>orde</a:t>
            </a:r>
            <a:r>
              <a:rPr lang="en-US"/>
              <a:t> filter</a:t>
            </a:r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7FA54-A822-6307-C52C-A08F9E190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 descr="A screen shot of a graph&#10;&#10;Description automatically generated">
            <a:extLst>
              <a:ext uri="{FF2B5EF4-FFF2-40B4-BE49-F238E27FC236}">
                <a16:creationId xmlns:a16="http://schemas.microsoft.com/office/drawing/2014/main" id="{ACFF0C75-3158-ECA9-A365-CC63CCE20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750" y="3917949"/>
            <a:ext cx="3251200" cy="2438400"/>
          </a:xfrm>
          <a:prstGeom prst="rect">
            <a:avLst/>
          </a:prstGeom>
        </p:spPr>
      </p:pic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1DA63162-F8FE-1A25-37A8-D658B78C6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750" y="990600"/>
            <a:ext cx="3251200" cy="24384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3C84EFA-60F5-FABB-B520-6F0236CC7CEF}"/>
              </a:ext>
            </a:extLst>
          </p:cNvPr>
          <p:cNvSpPr txBox="1">
            <a:spLocks/>
          </p:cNvSpPr>
          <p:nvPr/>
        </p:nvSpPr>
        <p:spPr>
          <a:xfrm>
            <a:off x="5854700" y="4904117"/>
            <a:ext cx="2895600" cy="963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“</a:t>
            </a:r>
            <a:r>
              <a:rPr lang="en-US" err="1"/>
              <a:t>normaal</a:t>
            </a:r>
            <a:r>
              <a:rPr lang="en-US"/>
              <a:t>” 3e </a:t>
            </a:r>
            <a:r>
              <a:rPr lang="en-US" err="1"/>
              <a:t>orde</a:t>
            </a:r>
            <a:r>
              <a:rPr lang="en-US"/>
              <a:t> filter</a:t>
            </a:r>
            <a:endParaRPr lang="en-NL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02B50D9-A99E-E6EB-D4BB-D26B23C853BD}"/>
              </a:ext>
            </a:extLst>
          </p:cNvPr>
          <p:cNvSpPr txBox="1">
            <a:spLocks/>
          </p:cNvSpPr>
          <p:nvPr/>
        </p:nvSpPr>
        <p:spPr>
          <a:xfrm>
            <a:off x="5989723" y="1941851"/>
            <a:ext cx="2895600" cy="963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Diode ladder filter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12614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9B155-01E8-E125-C699-CC3A6EB24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“</a:t>
            </a:r>
            <a:r>
              <a:rPr lang="en-US" err="1"/>
              <a:t>Weerstand</a:t>
            </a:r>
            <a:r>
              <a:rPr lang="en-US"/>
              <a:t>” diodes</a:t>
            </a:r>
            <a:endParaRPr lang="en-NL"/>
          </a:p>
        </p:txBody>
      </p:sp>
      <p:pic>
        <p:nvPicPr>
          <p:cNvPr id="13" name="Content Placeholder 12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0D7DFCC7-EF18-44F1-FB29-6EC72CFE92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3500" y="2546889"/>
            <a:ext cx="4232694" cy="381138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398F0-4E1E-08CD-DF84-6B2B7D045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54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F8D8F-F0E0-30EE-AE82-8D84DF755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5029200" cy="1325563"/>
          </a:xfrm>
        </p:spPr>
        <p:txBody>
          <a:bodyPr/>
          <a:lstStyle/>
          <a:p>
            <a:r>
              <a:rPr lang="nl-NL" noProof="0"/>
              <a:t>Voldoen aan eisen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95497-90A8-3A62-E833-FC8CB3D9C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4419599" cy="32695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Laag en </a:t>
            </a:r>
            <a:r>
              <a:rPr lang="nl-NL" noProof="0" err="1"/>
              <a:t>hoogdoorlaat</a:t>
            </a:r>
            <a:endParaRPr lang="nl-NL" noProof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Kantel frequentie via potmeter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Kantel frequentie via control voltage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Bandbreedte wordt door de componenten bepaald.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 noProof="0"/>
              <a:t>Evenals de kantelfrequentie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endParaRPr lang="nl-NL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060A3-2F18-A104-1931-79826214D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nl-NL" noProof="0" smtClean="0"/>
              <a:pPr/>
              <a:t>16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546208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78DC02-E00A-EEDF-5A0F-360A4357E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463089" cy="1325563"/>
          </a:xfrm>
        </p:spPr>
        <p:txBody>
          <a:bodyPr/>
          <a:lstStyle/>
          <a:p>
            <a:r>
              <a:rPr lang="nl-NL"/>
              <a:t>Demonstratie!!!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D132879-623D-940E-5254-AC3461E16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035794-5426-F6F3-B2F4-A52E3FD44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78572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E0C0F7-ADE9-1F66-A048-C0A1F1AF1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Einde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0CB316-88B4-13A0-3177-0743A8756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nl-NL"/>
              <a:t>Zijn er nog vragen?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B282370-FD11-9038-296A-DBBA63FDE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03347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200947B721FF49A58C58AA23D7F208" ma:contentTypeVersion="11" ma:contentTypeDescription="Een nieuw document maken." ma:contentTypeScope="" ma:versionID="9ab67885c51d5d80ef525106c61fd646">
  <xsd:schema xmlns:xsd="http://www.w3.org/2001/XMLSchema" xmlns:xs="http://www.w3.org/2001/XMLSchema" xmlns:p="http://schemas.microsoft.com/office/2006/metadata/properties" xmlns:ns2="e064670d-5742-4c0f-8169-dbc822ba4976" xmlns:ns3="61828561-ab6e-43c4-9d33-ca1b8be06404" targetNamespace="http://schemas.microsoft.com/office/2006/metadata/properties" ma:root="true" ma:fieldsID="b78c64806658e2d16f99b7b5bfff6d33" ns2:_="" ns3:_="">
    <xsd:import namespace="e064670d-5742-4c0f-8169-dbc822ba4976"/>
    <xsd:import namespace="61828561-ab6e-43c4-9d33-ca1b8be064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670d-5742-4c0f-8169-dbc822ba49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1c6a0e08-1576-455b-af28-552984f92f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828561-ab6e-43c4-9d33-ca1b8be0640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c2f1fef-6066-4c8a-bc30-4e1f5ff40335}" ma:internalName="TaxCatchAll" ma:showField="CatchAllData" ma:web="61828561-ab6e-43c4-9d33-ca1b8be064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828561-ab6e-43c4-9d33-ca1b8be06404" xsi:nil="true"/>
    <lcf76f155ced4ddcb4097134ff3c332f xmlns="e064670d-5742-4c0f-8169-dbc822ba497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378FCFC-45E7-442F-A15B-BB2E2316F067}">
  <ds:schemaRefs>
    <ds:schemaRef ds:uri="61828561-ab6e-43c4-9d33-ca1b8be06404"/>
    <ds:schemaRef ds:uri="e064670d-5742-4c0f-8169-dbc822ba497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61828561-ab6e-43c4-9d33-ca1b8be06404"/>
    <ds:schemaRef ds:uri="e064670d-5742-4c0f-8169-dbc822ba497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36377b7-70c4-4493-a338-095918d327e9}" enabled="0" method="" siteId="{e36377b7-70c4-4493-a338-095918d327e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{8037F449-156A-422C-8708-6BFE7ED669AF}tf67328976_win32</Template>
  <TotalTime>0</TotalTime>
  <Words>371</Words>
  <Application>Microsoft Office PowerPoint</Application>
  <PresentationFormat>Breedbeeld</PresentationFormat>
  <Paragraphs>97</Paragraphs>
  <Slides>18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Tenorite</vt:lpstr>
      <vt:lpstr>Wingdings</vt:lpstr>
      <vt:lpstr>Custom</vt:lpstr>
      <vt:lpstr>Project Ingenieursbureau VCF Ontwerp</vt:lpstr>
      <vt:lpstr>Inhoud</vt:lpstr>
      <vt:lpstr>Inleiding</vt:lpstr>
      <vt:lpstr>Opdracht en doelstelling</vt:lpstr>
      <vt:lpstr>Programma van eisen</vt:lpstr>
      <vt:lpstr>Programma van eisen</vt:lpstr>
      <vt:lpstr>beperkingen</vt:lpstr>
      <vt:lpstr>Schema</vt:lpstr>
      <vt:lpstr>Schema</vt:lpstr>
      <vt:lpstr>Onderbouwing componenten input</vt:lpstr>
      <vt:lpstr>Onderbouwing componenten diodeladder</vt:lpstr>
      <vt:lpstr>Beschikbaarheid</vt:lpstr>
      <vt:lpstr>Metingen</vt:lpstr>
      <vt:lpstr>Metingen</vt:lpstr>
      <vt:lpstr>“Weerstand” diodes</vt:lpstr>
      <vt:lpstr>Voldoen aan eisen</vt:lpstr>
      <vt:lpstr>Demonstratie!!!</vt:lpstr>
      <vt:lpstr>Einde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>Jens Kuizenga (student)</dc:creator>
  <cp:lastModifiedBy>Jens Kuizenga (student)</cp:lastModifiedBy>
  <cp:revision>446</cp:revision>
  <dcterms:created xsi:type="dcterms:W3CDTF">2024-09-09T08:38:26Z</dcterms:created>
  <dcterms:modified xsi:type="dcterms:W3CDTF">2024-10-16T08:44:26Z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0x010100C0200947B721FF49A58C58AA23D7F208</vt:lpwstr>
  </property>
  <property fmtid="{D5CDD505-2E9C-101B-9397-08002B2CF9AE}" pid="3" name="MediaServiceImageTags">
    <vt:lpwstr/>
  </property>
</Properties>
</file>
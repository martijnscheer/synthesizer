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74" r:id="rId6"/>
    <p:sldId id="276" r:id="rId7"/>
    <p:sldId id="266" r:id="rId8"/>
    <p:sldId id="267" r:id="rId9"/>
    <p:sldId id="277" r:id="rId10"/>
    <p:sldId id="268" r:id="rId11"/>
    <p:sldId id="270" r:id="rId12"/>
    <p:sldId id="271" r:id="rId13"/>
    <p:sldId id="269" r:id="rId14"/>
    <p:sldId id="278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79" r:id="rId27"/>
    <p:sldId id="292" r:id="rId28"/>
    <p:sldId id="272" r:id="rId29"/>
    <p:sldId id="291" r:id="rId30"/>
    <p:sldId id="29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82185-C368-D17C-DCC5-0965A83F6A29}" v="873" dt="2024-09-24T19:25:37.635"/>
    <p1510:client id="{EEEADDF8-DA01-4522-8525-C820F518DBB1}" v="756" dt="2024-09-24T19:20:07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tabel wilt toevoegen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tabel wilt toevoegen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 kern="1200" cap="all" spc="150" baseline="0" noProof="0">
                <a:latin typeface="+mj-lt"/>
                <a:ea typeface="+mj-ea"/>
                <a:cs typeface="+mj-cs"/>
              </a:rPr>
              <a:t>Project Ingenieursbureau</a:t>
            </a:r>
            <a:br>
              <a:rPr lang="nl-NL" kern="1200" cap="all" spc="150" baseline="0" noProof="0">
                <a:latin typeface="+mj-lt"/>
                <a:ea typeface="+mj-ea"/>
                <a:cs typeface="+mj-cs"/>
              </a:rPr>
            </a:br>
            <a:r>
              <a:rPr lang="nl-NL" kern="1200" cap="all" spc="150" baseline="0" noProof="0">
                <a:latin typeface="+mj-lt"/>
                <a:ea typeface="+mj-ea"/>
                <a:cs typeface="+mj-cs"/>
              </a:rPr>
              <a:t>VCF Concepten</a:t>
            </a:r>
          </a:p>
        </p:txBody>
      </p:sp>
      <p:pic>
        <p:nvPicPr>
          <p:cNvPr id="7" name="Afbeelding 6" descr="Afbeelding met kunst, Graphics, schermopname, grafische vormgeving&#10;&#10;Automatisch gegenereerde beschrijving">
            <a:extLst>
              <a:ext uri="{FF2B5EF4-FFF2-40B4-BE49-F238E27FC236}">
                <a16:creationId xmlns:a16="http://schemas.microsoft.com/office/drawing/2014/main" id="{AF969CB7-A7C4-DFC9-6F98-5212149BA5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74" r="6087" b="1"/>
          <a:stretch/>
        </p:blipFill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  <a:noFill/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10DEB1CA-260B-390D-D05D-BB4B234D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nl-NL" noProof="0" smtClean="0"/>
              <a:pPr>
                <a:spcAft>
                  <a:spcPts val="600"/>
                </a:spcAft>
              </a:pPr>
              <a:t>1</a:t>
            </a:fld>
            <a:endParaRPr lang="nl-NL" noProof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F1726A9C-7CE2-5CC8-FD1A-D592CCE9C900}"/>
              </a:ext>
            </a:extLst>
          </p:cNvPr>
          <p:cNvSpPr txBox="1">
            <a:spLocks/>
          </p:cNvSpPr>
          <p:nvPr/>
        </p:nvSpPr>
        <p:spPr>
          <a:xfrm>
            <a:off x="5453725" y="3660774"/>
            <a:ext cx="5907176" cy="2536826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/>
              <a:t>Opdrachtgever: Windesheim 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/>
              <a:t>Bedrijf: </a:t>
            </a:r>
            <a:r>
              <a:rPr lang="nl-NL" sz="1800" b="0" spc="50" noProof="0" err="1"/>
              <a:t>Pulse</a:t>
            </a:r>
            <a:r>
              <a:rPr lang="nl-NL" sz="1800" b="0" spc="50" noProof="0"/>
              <a:t> </a:t>
            </a:r>
            <a:r>
              <a:rPr lang="nl-NL" sz="1800" b="0" spc="50" noProof="0" err="1"/>
              <a:t>Soundworks</a:t>
            </a:r>
            <a:endParaRPr lang="nl-NL" sz="1800" b="0" spc="50" noProof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/>
              <a:t>Datum: </a:t>
            </a:r>
            <a:r>
              <a:rPr lang="nl-NL" sz="1800" spc="50" noProof="0"/>
              <a:t>25</a:t>
            </a:r>
            <a:r>
              <a:rPr lang="nl-NL" sz="1800" b="0" spc="50" noProof="0"/>
              <a:t>-09-’24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/>
              <a:t>Diémo Rijsdijk: 1200704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/>
              <a:t>Jens </a:t>
            </a:r>
            <a:r>
              <a:rPr lang="nl-NL" sz="1800" b="0" spc="50" noProof="0" err="1"/>
              <a:t>Kuizenga</a:t>
            </a:r>
            <a:r>
              <a:rPr lang="nl-NL" sz="1800" b="0" spc="50" noProof="0"/>
              <a:t>: 1175555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3F92-90AC-029E-78AD-CC817C94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Inhoud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879E1-BA58-835A-11E3-CAB549572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86593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dirty="0"/>
              <a:t>Inleiding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dirty="0"/>
              <a:t>Opdracht en doelstelling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err="1"/>
              <a:t>PvE</a:t>
            </a:r>
            <a:endParaRPr lang="nl-NL" noProof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dirty="0"/>
              <a:t>Beperkingen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dirty="0"/>
              <a:t>Conceptoplossingen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dirty="0"/>
              <a:t>Voldoen aan eisen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dirty="0"/>
              <a:t>Afgevallen concepten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dirty="0"/>
              <a:t>Haalbaarheid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0D399-33D4-8A23-3AC6-1E9CFB47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2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28213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9F0110-7B0B-9CA5-69F3-07B847E4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A42AD67-B233-B8C3-CB30-3A15258CA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5800034" cy="326958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dirty="0"/>
              <a:t>Voor het vak PIB gaan wij een synthesizer bouwen waarvan wij het filter gaan maken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dirty="0"/>
              <a:t>Het doel van het project is het produceren van een effectfilter module voor een modulaire </a:t>
            </a:r>
            <a:r>
              <a:rPr lang="nl-NL" noProof="0" dirty="0" err="1"/>
              <a:t>synth</a:t>
            </a:r>
            <a:r>
              <a:rPr lang="nl-NL" noProof="0" dirty="0"/>
              <a:t> die de kantelfrequentie kan regelen via een interface en via een input door middel van een spanning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dirty="0"/>
              <a:t>Aan het eind van het project wordt er een werkende </a:t>
            </a:r>
            <a:r>
              <a:rPr lang="nl-NL" noProof="0" dirty="0" err="1"/>
              <a:t>synth</a:t>
            </a:r>
            <a:r>
              <a:rPr lang="nl-NL" noProof="0" dirty="0"/>
              <a:t> opgeleverd.</a:t>
            </a:r>
            <a:endParaRPr lang="nl-NL" noProof="0" dirty="0">
              <a:solidFill>
                <a:srgbClr val="FF0000"/>
              </a:solidFill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73F3BDC-1751-2A5C-38BD-735F2625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3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672710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EC5D-AD0E-4D6E-217A-2B11B3B1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Opdracht en doelstelling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C3D55-A225-7389-CAC7-150A38A5C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nl-NL" noProof="0"/>
              <a:t>High-pass en Low-pass</a:t>
            </a:r>
          </a:p>
          <a:p>
            <a:pPr marL="285750" indent="-285750">
              <a:buFontTx/>
              <a:buChar char="-"/>
            </a:pPr>
            <a:r>
              <a:rPr lang="nl-NL" noProof="0"/>
              <a:t>Low-pass </a:t>
            </a:r>
            <a:r>
              <a:rPr lang="nl-NL" noProof="0" err="1"/>
              <a:t>spanningsgestuurd</a:t>
            </a:r>
            <a:endParaRPr lang="nl-NL" noProof="0"/>
          </a:p>
          <a:p>
            <a:pPr marL="285750" indent="-285750">
              <a:buFontTx/>
              <a:buChar char="-"/>
            </a:pPr>
            <a:r>
              <a:rPr lang="nl-NL" noProof="0"/>
              <a:t>6-dB/</a:t>
            </a:r>
            <a:r>
              <a:rPr lang="nl-NL" noProof="0" err="1"/>
              <a:t>oct</a:t>
            </a:r>
            <a:r>
              <a:rPr lang="nl-NL" noProof="0"/>
              <a:t> demping</a:t>
            </a:r>
          </a:p>
          <a:p>
            <a:pPr marL="285750" indent="-285750">
              <a:buFontTx/>
              <a:buChar char="-"/>
            </a:pPr>
            <a:r>
              <a:rPr lang="nl-NL" noProof="0"/>
              <a:t>Tevredenheid klant </a:t>
            </a:r>
            <a:r>
              <a:rPr lang="nl-NL" noProof="0">
                <a:sym typeface="Wingdings" panose="05000000000000000000" pitchFamily="2" charset="2"/>
              </a:rPr>
              <a:t> werkend product</a:t>
            </a:r>
          </a:p>
          <a:p>
            <a:pPr marL="285750" indent="-285750">
              <a:buFontTx/>
              <a:buChar char="-"/>
            </a:pPr>
            <a:r>
              <a:rPr lang="nl-NL" noProof="0">
                <a:sym typeface="Wingdings" panose="05000000000000000000" pitchFamily="2" charset="2"/>
              </a:rPr>
              <a:t>Einddatum</a:t>
            </a:r>
            <a:endParaRPr lang="nl-NL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174B3-D30E-B3FA-3524-7A160AC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4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51205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BA88-CAE5-2210-49BB-F2188FFBB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4574208" cy="1325563"/>
          </a:xfrm>
        </p:spPr>
        <p:txBody>
          <a:bodyPr/>
          <a:lstStyle/>
          <a:p>
            <a:r>
              <a:rPr lang="nl-NL" noProof="0"/>
              <a:t>Programma van eisen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B3665-D1BB-5F5B-E2E7-C67DEDFD2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5</a:t>
            </a:fld>
            <a:endParaRPr lang="nl-NL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167CD3-5EED-C553-0604-CD90C911615E}"/>
              </a:ext>
            </a:extLst>
          </p:cNvPr>
          <p:cNvSpPr txBox="1">
            <a:spLocks/>
          </p:cNvSpPr>
          <p:nvPr/>
        </p:nvSpPr>
        <p:spPr>
          <a:xfrm>
            <a:off x="1331291" y="2340500"/>
            <a:ext cx="4574208" cy="438498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noProof="0"/>
              <a:t>Functionele Eisen:</a:t>
            </a:r>
          </a:p>
          <a:p>
            <a:pPr marL="34290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Een laagdoorlaat- en </a:t>
            </a:r>
            <a:r>
              <a:rPr lang="nl-NL" noProof="0" err="1"/>
              <a:t>hoogdoorlaatfilter</a:t>
            </a:r>
            <a:r>
              <a:rPr lang="nl-NL" noProof="0"/>
              <a:t> of bandfilter in één module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De kantelfrequentie van de low-pass is instelbaar met een extern stuursignaal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Kantelfrequentie van beide filters is instelbaar met een potmeter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Een bandbreedte van ten minste 4 octaven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nl-NL" noProof="0"/>
              <a:t>De kantelfrequentie is instelbaar van 100Hz-5kHz</a:t>
            </a:r>
          </a:p>
          <a:p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195075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23DC5-C9C2-3102-902D-C352261F2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4518991" cy="1347649"/>
          </a:xfrm>
        </p:spPr>
        <p:txBody>
          <a:bodyPr/>
          <a:lstStyle/>
          <a:p>
            <a:r>
              <a:rPr lang="nl-NL" noProof="0"/>
              <a:t>Programma van eisen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DA09ED2-942F-6DE4-E8C7-5484B2DD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6</a:t>
            </a:fld>
            <a:endParaRPr lang="nl-NL" noProof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C281FF-E138-0A50-B80B-B6E0B5E47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681" y="2384673"/>
            <a:ext cx="4507947" cy="39763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NL" noProof="0"/>
              <a:t>Niet-functionele Eisen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Veilige spanningen voor de gebruiker.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De Maximale kosten bedragen 50€.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De volledige constructie moet ten miste tilbaar zijn door één persoon.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De pcb’s zijn zichtbaar te maken zonder demontage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Modulair systeem.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nl-NL" noProof="0"/>
              <a:t>3.5mm jack connectoren voor signalen.</a:t>
            </a:r>
          </a:p>
        </p:txBody>
      </p:sp>
    </p:spTree>
    <p:extLst>
      <p:ext uri="{BB962C8B-B14F-4D97-AF65-F5344CB8AC3E}">
        <p14:creationId xmlns:p14="http://schemas.microsoft.com/office/powerpoint/2010/main" val="152951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4E00F-13BE-0648-B9F2-84443457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beperkingen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19EA6-5F28-53A1-4325-2819B550B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674013"/>
            <a:ext cx="5320219" cy="3269589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nl-NL" noProof="0"/>
              <a:t>Componenten die bij Windesheim op voorraad zijn</a:t>
            </a:r>
          </a:p>
          <a:p>
            <a:pPr marL="285750" indent="-285750">
              <a:buFontTx/>
              <a:buChar char="-"/>
            </a:pPr>
            <a:r>
              <a:rPr lang="nl-NL" noProof="0"/>
              <a:t>PCB-ontwerp voldoet aan de door de fabrikant gestelde beperkingen</a:t>
            </a:r>
          </a:p>
          <a:p>
            <a:pPr marL="285750" indent="-285750">
              <a:buFontTx/>
              <a:buChar char="-"/>
            </a:pPr>
            <a:r>
              <a:rPr lang="nl-NL" noProof="0"/>
              <a:t>Geen end-of-life componenten</a:t>
            </a:r>
          </a:p>
          <a:p>
            <a:pPr marL="285750" indent="-285750">
              <a:buFontTx/>
              <a:buChar char="-"/>
            </a:pPr>
            <a:r>
              <a:rPr lang="nl-NL" noProof="0"/>
              <a:t>Max. afmetingen </a:t>
            </a:r>
            <a:r>
              <a:rPr lang="nl-NL" noProof="0">
                <a:sym typeface="Wingdings" panose="05000000000000000000" pitchFamily="2" charset="2"/>
              </a:rPr>
              <a:t> behuizing</a:t>
            </a:r>
            <a:endParaRPr lang="nl-NL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D105F-5C74-112A-874C-F8EEF66F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7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838406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FCF54-3241-10B2-6905-0F6B7B0C3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4328160" cy="1325563"/>
          </a:xfrm>
        </p:spPr>
        <p:txBody>
          <a:bodyPr/>
          <a:lstStyle/>
          <a:p>
            <a:r>
              <a:rPr lang="nl-NL" noProof="0"/>
              <a:t>LDR Filter (</a:t>
            </a:r>
            <a:r>
              <a:rPr lang="nl-NL" noProof="0" err="1"/>
              <a:t>Vactrol</a:t>
            </a:r>
            <a:r>
              <a:rPr lang="nl-NL" noProof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2C62D-AD0E-0BE2-CA40-A6CEAD7DC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nl-NL" noProof="0"/>
              <a:t>Eenvoudig filter, weerstand vervangen</a:t>
            </a:r>
          </a:p>
          <a:p>
            <a:pPr marL="285750" indent="-285750">
              <a:buFontTx/>
              <a:buChar char="-"/>
            </a:pPr>
            <a:r>
              <a:rPr lang="nl-NL" noProof="0"/>
              <a:t>Exotische componenten / zelfbouw</a:t>
            </a:r>
          </a:p>
          <a:p>
            <a:pPr marL="285750" indent="-285750">
              <a:buFontTx/>
              <a:buChar char="-"/>
            </a:pPr>
            <a:r>
              <a:rPr lang="nl-NL" noProof="0"/>
              <a:t>Spanningssturing niet-lineair </a:t>
            </a:r>
            <a:r>
              <a:rPr lang="nl-NL" noProof="0">
                <a:sym typeface="Wingdings" panose="05000000000000000000" pitchFamily="2" charset="2"/>
              </a:rPr>
              <a:t> complexiteit</a:t>
            </a:r>
          </a:p>
          <a:p>
            <a:pPr marL="285750" indent="-285750">
              <a:buFontTx/>
              <a:buChar char="-"/>
            </a:pPr>
            <a:r>
              <a:rPr lang="nl-NL" noProof="0">
                <a:sym typeface="Wingdings" panose="05000000000000000000" pitchFamily="2" charset="2"/>
              </a:rPr>
              <a:t>Reactiesnelheid beperkt</a:t>
            </a:r>
          </a:p>
          <a:p>
            <a:pPr marL="285750" indent="-285750">
              <a:buFontTx/>
              <a:buChar char="-"/>
            </a:pPr>
            <a:endParaRPr lang="nl-NL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9F6FC-F2EF-99FE-BBB3-25FBD05C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8</a:t>
            </a:fld>
            <a:endParaRPr lang="nl-NL" noProof="0"/>
          </a:p>
        </p:txBody>
      </p:sp>
      <p:pic>
        <p:nvPicPr>
          <p:cNvPr id="7" name="Picture 6" descr="A diagram of a circuit&#10;&#10;Description automatically generated">
            <a:extLst>
              <a:ext uri="{FF2B5EF4-FFF2-40B4-BE49-F238E27FC236}">
                <a16:creationId xmlns:a16="http://schemas.microsoft.com/office/drawing/2014/main" id="{F4E87661-4D93-B6FB-2F2D-5F4EB3AB0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508" y="2674013"/>
            <a:ext cx="7503492" cy="402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73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A4B6-2993-6042-0ED6-CD18744CC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OTA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31710-9841-8686-0923-68DE4AF2E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nl-NL" noProof="0"/>
              <a:t>Moeilijk lineair te maken</a:t>
            </a:r>
          </a:p>
          <a:p>
            <a:pPr marL="285750" indent="-285750">
              <a:buFontTx/>
              <a:buChar char="-"/>
            </a:pPr>
            <a:r>
              <a:rPr lang="nl-NL" noProof="0"/>
              <a:t>“exotisch component”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78F80-1D6A-BA16-8C94-9ED3E61E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9</a:t>
            </a:fld>
            <a:endParaRPr lang="nl-NL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475153-F526-CBA3-2DB4-69914077A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394" y="2170484"/>
            <a:ext cx="69723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68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A252-5F09-814D-61FF-D4BC9E68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Moog Ladder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015ED-F0E9-C8F9-4153-3A90C13EC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err="1"/>
              <a:t>Machted</a:t>
            </a:r>
            <a:r>
              <a:rPr lang="nl-NL" noProof="0"/>
              <a:t> pair transistor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Ingewikkelder</a:t>
            </a:r>
          </a:p>
          <a:p>
            <a:endParaRPr lang="nl-NL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7B36C-0C37-84AB-DADF-5820FE68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10</a:t>
            </a:fld>
            <a:endParaRPr lang="nl-NL" noProof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574485-C43D-F4A7-9301-B2C81123A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725" y="2237362"/>
            <a:ext cx="7827275" cy="462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887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2B934E-9E33-500C-EC18-AC874FA0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Diode ladder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DDD079-0F9C-7DF6-3C62-EF97ACEE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978" y="2674013"/>
            <a:ext cx="3159760" cy="32695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Eigenschappen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nl-NL" noProof="0"/>
              <a:t>Diode als weerstand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nl-NL" noProof="0"/>
              <a:t>Spanningsafhankelijk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FA0C060-0362-73B7-F3F9-5C5329B6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11</a:t>
            </a:fld>
            <a:endParaRPr lang="nl-NL" noProof="0"/>
          </a:p>
        </p:txBody>
      </p:sp>
      <p:pic>
        <p:nvPicPr>
          <p:cNvPr id="5" name="Afbeelding 4" descr="Designing a diode ladder filter from scratch - #17 by Dud - Videoos - Look  Mum No Computer Thingies">
            <a:extLst>
              <a:ext uri="{FF2B5EF4-FFF2-40B4-BE49-F238E27FC236}">
                <a16:creationId xmlns:a16="http://schemas.microsoft.com/office/drawing/2014/main" id="{1479E0CC-7B5E-697D-32CF-9C66BF6F2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705" y="1390086"/>
            <a:ext cx="7900501" cy="455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10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3B028-213F-0C60-30D8-542FC4B4A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48" y="159054"/>
            <a:ext cx="2895600" cy="464172"/>
          </a:xfrm>
        </p:spPr>
        <p:txBody>
          <a:bodyPr>
            <a:normAutofit fontScale="90000"/>
          </a:bodyPr>
          <a:lstStyle/>
          <a:p>
            <a:r>
              <a:rPr lang="nl-NL" noProof="0"/>
              <a:t>Diode ladder</a:t>
            </a:r>
          </a:p>
        </p:txBody>
      </p:sp>
      <p:pic>
        <p:nvPicPr>
          <p:cNvPr id="5" name="Tijdelijke aanduiding voor inhoud 4" descr="Afbeelding met schermopname, diagram, tekst&#10;&#10;Automatisch gegenereerde beschrijving">
            <a:extLst>
              <a:ext uri="{FF2B5EF4-FFF2-40B4-BE49-F238E27FC236}">
                <a16:creationId xmlns:a16="http://schemas.microsoft.com/office/drawing/2014/main" id="{C89F15E0-B498-E888-9AF2-BC6791132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4457" y="918579"/>
            <a:ext cx="10559772" cy="5620889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C0F61F3-AE63-E382-F02A-B277D68E2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12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493160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CAEAF9-4629-5E65-A6C4-FF8992569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48" y="192183"/>
            <a:ext cx="2895600" cy="497303"/>
          </a:xfrm>
        </p:spPr>
        <p:txBody>
          <a:bodyPr/>
          <a:lstStyle/>
          <a:p>
            <a:r>
              <a:rPr lang="nl-NL" noProof="0"/>
              <a:t>Diode ladder</a:t>
            </a:r>
          </a:p>
        </p:txBody>
      </p:sp>
      <p:pic>
        <p:nvPicPr>
          <p:cNvPr id="5" name="Tijdelijke aanduiding voor inhoud 4" descr="Afbeelding met schermopname, diagram, lijn, tekst&#10;&#10;Automatisch gegenereerde beschrijving">
            <a:extLst>
              <a:ext uri="{FF2B5EF4-FFF2-40B4-BE49-F238E27FC236}">
                <a16:creationId xmlns:a16="http://schemas.microsoft.com/office/drawing/2014/main" id="{409824B3-C3F4-D5F3-59EC-D18581862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2804" y="687307"/>
            <a:ext cx="10394120" cy="5984043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3023B8-8219-339F-EED7-12CF9B300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13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254137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4DF69C-1374-7870-0E7B-6C3732851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48" y="225314"/>
            <a:ext cx="2895600" cy="486259"/>
          </a:xfrm>
        </p:spPr>
        <p:txBody>
          <a:bodyPr/>
          <a:lstStyle/>
          <a:p>
            <a:r>
              <a:rPr lang="nl-NL" noProof="0"/>
              <a:t>Diode Ladder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EA357-845C-A1DD-82C4-9D065DF7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14</a:t>
            </a:fld>
            <a:endParaRPr lang="nl-NL" noProof="0"/>
          </a:p>
        </p:txBody>
      </p:sp>
      <p:pic>
        <p:nvPicPr>
          <p:cNvPr id="8" name="Tijdelijke aanduiding voor inhoud 7" descr="Afbeelding met schermopname, diagram, lijn, tekst&#10;&#10;Automatisch gegenereerde beschrijving">
            <a:extLst>
              <a:ext uri="{FF2B5EF4-FFF2-40B4-BE49-F238E27FC236}">
                <a16:creationId xmlns:a16="http://schemas.microsoft.com/office/drawing/2014/main" id="{FDC4270D-FE0A-D862-C403-982592BB9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239" y="579318"/>
            <a:ext cx="10670208" cy="6133759"/>
          </a:xfrm>
        </p:spPr>
      </p:pic>
    </p:spTree>
    <p:extLst>
      <p:ext uri="{BB962C8B-B14F-4D97-AF65-F5344CB8AC3E}">
        <p14:creationId xmlns:p14="http://schemas.microsoft.com/office/powerpoint/2010/main" val="422623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279831-52DF-B1BD-2AAA-8C6BC4E4E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48" y="236358"/>
            <a:ext cx="2895600" cy="629824"/>
          </a:xfrm>
        </p:spPr>
        <p:txBody>
          <a:bodyPr/>
          <a:lstStyle/>
          <a:p>
            <a:r>
              <a:rPr lang="nl-NL" noProof="0"/>
              <a:t>Diode ladder</a:t>
            </a:r>
          </a:p>
        </p:txBody>
      </p:sp>
      <p:pic>
        <p:nvPicPr>
          <p:cNvPr id="5" name="Tijdelijke aanduiding voor inhoud 4" descr="Afbeelding met schermopname, diagram, tekst, Perceel&#10;&#10;Automatisch gegenereerde beschrijving">
            <a:extLst>
              <a:ext uri="{FF2B5EF4-FFF2-40B4-BE49-F238E27FC236}">
                <a16:creationId xmlns:a16="http://schemas.microsoft.com/office/drawing/2014/main" id="{BF2EB3F9-FD77-D049-D79A-FAC0F6025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5674" y="865647"/>
            <a:ext cx="10957338" cy="5671540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150163A-665C-6AF5-9775-F1DB1D34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15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004414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B4D2AA-71D4-F7D7-9D89-3452D7F0E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48" y="225314"/>
            <a:ext cx="2895600" cy="574607"/>
          </a:xfrm>
        </p:spPr>
        <p:txBody>
          <a:bodyPr/>
          <a:lstStyle/>
          <a:p>
            <a:r>
              <a:rPr lang="nl-NL" noProof="0"/>
              <a:t>Diode ladder</a:t>
            </a:r>
          </a:p>
        </p:txBody>
      </p:sp>
      <p:pic>
        <p:nvPicPr>
          <p:cNvPr id="5" name="Tijdelijke aanduiding voor inhoud 4" descr="Afbeelding met schermopname, diagram, tekst, Perceel&#10;&#10;Automatisch gegenereerde beschrijving">
            <a:extLst>
              <a:ext uri="{FF2B5EF4-FFF2-40B4-BE49-F238E27FC236}">
                <a16:creationId xmlns:a16="http://schemas.microsoft.com/office/drawing/2014/main" id="{9503F6A8-8DAA-90EE-4EC5-286C19B11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891" y="794689"/>
            <a:ext cx="11619947" cy="5658844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F501075-A7F4-4902-8EE0-AC8C990E2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16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801053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ijdelijke aanduiding voor inhoud 6" descr="Afbeelding met schermopname, tekst, diagram&#10;&#10;Automatisch gegenereerde beschrijving">
            <a:extLst>
              <a:ext uri="{FF2B5EF4-FFF2-40B4-BE49-F238E27FC236}">
                <a16:creationId xmlns:a16="http://schemas.microsoft.com/office/drawing/2014/main" id="{66D06FDE-D72A-9905-575A-D48B49B09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717" y="864317"/>
            <a:ext cx="11564730" cy="5596893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C69549-F37A-F2F5-7F92-6E09F8E7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17</a:t>
            </a:fld>
            <a:endParaRPr lang="nl-NL" noProof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5120548-D602-89EB-6957-AE2909601C6C}"/>
              </a:ext>
            </a:extLst>
          </p:cNvPr>
          <p:cNvSpPr txBox="1">
            <a:spLocks/>
          </p:cNvSpPr>
          <p:nvPr/>
        </p:nvSpPr>
        <p:spPr>
          <a:xfrm>
            <a:off x="151848" y="236358"/>
            <a:ext cx="2895600" cy="6298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noProof="0"/>
              <a:t>Diode ladder</a:t>
            </a:r>
          </a:p>
        </p:txBody>
      </p:sp>
    </p:spTree>
    <p:extLst>
      <p:ext uri="{BB962C8B-B14F-4D97-AF65-F5344CB8AC3E}">
        <p14:creationId xmlns:p14="http://schemas.microsoft.com/office/powerpoint/2010/main" val="1836542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AEBF0-C51F-4A55-18B4-D998503DC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48" y="247401"/>
            <a:ext cx="2895600" cy="618781"/>
          </a:xfrm>
        </p:spPr>
        <p:txBody>
          <a:bodyPr/>
          <a:lstStyle/>
          <a:p>
            <a:r>
              <a:rPr lang="nl-NL" noProof="0"/>
              <a:t>Diode Ladder</a:t>
            </a:r>
          </a:p>
        </p:txBody>
      </p:sp>
      <p:pic>
        <p:nvPicPr>
          <p:cNvPr id="5" name="Tijdelijke aanduiding voor inhoud 4" descr="Afbeelding met schermopname, tekst, diagram, Perceel&#10;&#10;Automatisch gegenereerde beschrijving">
            <a:extLst>
              <a:ext uri="{FF2B5EF4-FFF2-40B4-BE49-F238E27FC236}">
                <a16:creationId xmlns:a16="http://schemas.microsoft.com/office/drawing/2014/main" id="{15C4EA01-21F1-A68B-B289-8AD63503E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283" y="863884"/>
            <a:ext cx="11796643" cy="5851760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7EFFB03-B83D-7795-FB57-9E094802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18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610987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3CD743-9516-5417-FC4D-D6882165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26" y="457228"/>
            <a:ext cx="2895600" cy="530433"/>
          </a:xfrm>
        </p:spPr>
        <p:txBody>
          <a:bodyPr/>
          <a:lstStyle/>
          <a:p>
            <a:r>
              <a:rPr lang="nl-NL" noProof="0"/>
              <a:t>Diode Ladder</a:t>
            </a:r>
          </a:p>
        </p:txBody>
      </p:sp>
      <p:pic>
        <p:nvPicPr>
          <p:cNvPr id="5" name="Tijdelijke aanduiding voor inhoud 4" descr="Afbeelding met schermopname, tekst, diagram&#10;&#10;Automatisch gegenereerde beschrijving">
            <a:extLst>
              <a:ext uri="{FF2B5EF4-FFF2-40B4-BE49-F238E27FC236}">
                <a16:creationId xmlns:a16="http://schemas.microsoft.com/office/drawing/2014/main" id="{59A23724-0D26-7EDB-05D2-E197194BF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978" y="849476"/>
            <a:ext cx="11476382" cy="5692839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F2CDA69-E6B2-8B72-5F68-EAE2C107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19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538702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1F5024-9613-843B-8DFD-E16444791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83" y="390966"/>
            <a:ext cx="2895600" cy="607737"/>
          </a:xfrm>
        </p:spPr>
        <p:txBody>
          <a:bodyPr>
            <a:normAutofit/>
          </a:bodyPr>
          <a:lstStyle/>
          <a:p>
            <a:r>
              <a:rPr lang="nl-NL" noProof="0"/>
              <a:t>Diode Ladder</a:t>
            </a:r>
          </a:p>
        </p:txBody>
      </p:sp>
      <p:pic>
        <p:nvPicPr>
          <p:cNvPr id="5" name="Tijdelijke aanduiding voor inhoud 4" descr="Afbeelding met diagram, tekst, kaart, Technische tekening&#10;&#10;Automatisch gegenereerde beschrijving">
            <a:extLst>
              <a:ext uri="{FF2B5EF4-FFF2-40B4-BE49-F238E27FC236}">
                <a16:creationId xmlns:a16="http://schemas.microsoft.com/office/drawing/2014/main" id="{6BF563B2-E1A7-8845-95D3-CD058D60B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283" y="894496"/>
            <a:ext cx="11675165" cy="5834710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EB3F068-AE14-8B7A-4161-96E3A985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20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836439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AE6F35-8341-35A5-A5E1-EEB71F79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26" y="346792"/>
            <a:ext cx="2895600" cy="618781"/>
          </a:xfrm>
        </p:spPr>
        <p:txBody>
          <a:bodyPr/>
          <a:lstStyle/>
          <a:p>
            <a:r>
              <a:rPr lang="nl-NL" noProof="0"/>
              <a:t>Diode Ladder</a:t>
            </a:r>
          </a:p>
        </p:txBody>
      </p:sp>
      <p:pic>
        <p:nvPicPr>
          <p:cNvPr id="5" name="Tijdelijke aanduiding voor inhoud 4" descr="Afbeelding met diagram, schermopname, tekst, kaart&#10;&#10;Automatisch gegenereerde beschrijving">
            <a:extLst>
              <a:ext uri="{FF2B5EF4-FFF2-40B4-BE49-F238E27FC236}">
                <a16:creationId xmlns:a16="http://schemas.microsoft.com/office/drawing/2014/main" id="{3D059CFF-A971-10FF-1CD2-A6CACD1454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067" y="822072"/>
            <a:ext cx="8649251" cy="5692425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434B909-A76B-B20D-F74C-1A660FA38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21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01650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FEDD65-8E64-88C8-1872-F6928C183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96" y="258444"/>
            <a:ext cx="2895600" cy="541477"/>
          </a:xfrm>
        </p:spPr>
        <p:txBody>
          <a:bodyPr/>
          <a:lstStyle/>
          <a:p>
            <a:r>
              <a:rPr lang="nl-NL" noProof="0"/>
              <a:t>Diode Ladder</a:t>
            </a:r>
          </a:p>
        </p:txBody>
      </p:sp>
      <p:pic>
        <p:nvPicPr>
          <p:cNvPr id="5" name="Tijdelijke aanduiding voor inhoud 4" descr="Afbeelding met tekst, diagram, schermopname, Lettertype&#10;&#10;Automatisch gegenereerde beschrijving">
            <a:extLst>
              <a:ext uri="{FF2B5EF4-FFF2-40B4-BE49-F238E27FC236}">
                <a16:creationId xmlns:a16="http://schemas.microsoft.com/office/drawing/2014/main" id="{453CFA69-EC49-CF40-9400-C32B9C008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022" y="797664"/>
            <a:ext cx="11509513" cy="5564545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9691592-E4EB-BB9D-F9CE-B612C71DB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22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921606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800E8-E1E0-D64A-FE48-1F9FC93A8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48" y="136967"/>
            <a:ext cx="2895600" cy="585650"/>
          </a:xfrm>
        </p:spPr>
        <p:txBody>
          <a:bodyPr/>
          <a:lstStyle/>
          <a:p>
            <a:r>
              <a:rPr lang="nl-NL" noProof="0"/>
              <a:t>Diode ladder</a:t>
            </a:r>
          </a:p>
        </p:txBody>
      </p:sp>
      <p:pic>
        <p:nvPicPr>
          <p:cNvPr id="6" name="Tijdelijke aanduiding voor inhoud 5" descr="Afbeelding met tekst, schermopname, diagram&#10;&#10;Automatisch gegenereerde beschrijving">
            <a:extLst>
              <a:ext uri="{FF2B5EF4-FFF2-40B4-BE49-F238E27FC236}">
                <a16:creationId xmlns:a16="http://schemas.microsoft.com/office/drawing/2014/main" id="{92969B54-FED0-09DA-87A0-4EE4B8D96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7567" y="709652"/>
            <a:ext cx="8458199" cy="6186255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6462D55-1E84-8AB3-1097-6257D6E8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23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250051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tx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7212-FA6F-718D-A063-03332A7F2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357663"/>
            <a:ext cx="2895600" cy="1325563"/>
          </a:xfrm>
        </p:spPr>
        <p:txBody>
          <a:bodyPr/>
          <a:lstStyle/>
          <a:p>
            <a:r>
              <a:rPr lang="nl-NL" dirty="0"/>
              <a:t>Concepten vergelijken</a:t>
            </a:r>
            <a:endParaRPr lang="nl-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B0768-1FEA-2845-7C0C-E201BD88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11861" y="6424443"/>
            <a:ext cx="987552" cy="365125"/>
          </a:xfrm>
        </p:spPr>
        <p:txBody>
          <a:bodyPr/>
          <a:lstStyle/>
          <a:p>
            <a:fld id="{A49DFD55-3C28-40EF-9E31-A92D2E4017FF}" type="slidenum">
              <a:rPr lang="nl-NL" noProof="0" smtClean="0"/>
              <a:pPr/>
              <a:t>24</a:t>
            </a:fld>
            <a:endParaRPr lang="nl-NL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A51736-E8FB-A61B-A328-3F38FA0D08CE}"/>
              </a:ext>
            </a:extLst>
          </p:cNvPr>
          <p:cNvSpPr txBox="1">
            <a:spLocks/>
          </p:cNvSpPr>
          <p:nvPr/>
        </p:nvSpPr>
        <p:spPr>
          <a:xfrm>
            <a:off x="676436" y="2742106"/>
            <a:ext cx="2895600" cy="36892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Calibri"/>
              <a:buChar char="-"/>
            </a:pPr>
            <a:r>
              <a:rPr lang="nl-NL" noProof="0" dirty="0"/>
              <a:t>Niet-standaard componenten</a:t>
            </a:r>
            <a:endParaRPr lang="nl-NL"/>
          </a:p>
          <a:p>
            <a:pPr marL="285750" indent="-285750">
              <a:buFont typeface="Calibri"/>
              <a:buChar char="-"/>
            </a:pPr>
            <a:r>
              <a:rPr lang="nl-NL" noProof="0" err="1"/>
              <a:t>Lineariteit</a:t>
            </a:r>
            <a:r>
              <a:rPr lang="nl-NL" noProof="0" dirty="0"/>
              <a:t> </a:t>
            </a:r>
            <a:r>
              <a:rPr lang="nl-NL" noProof="0" dirty="0">
                <a:sym typeface="Wingdings" panose="05000000000000000000" pitchFamily="2" charset="2"/>
              </a:rPr>
              <a:t> complexiteit</a:t>
            </a:r>
            <a:endParaRPr lang="nl-NL" noProof="0" dirty="0"/>
          </a:p>
          <a:p>
            <a:pPr marL="285750" indent="-285750">
              <a:buFont typeface="Calibri"/>
              <a:buChar char="-"/>
            </a:pPr>
            <a:r>
              <a:rPr lang="nl-NL" noProof="0" dirty="0">
                <a:sym typeface="Wingdings" panose="05000000000000000000" pitchFamily="2" charset="2"/>
              </a:rPr>
              <a:t>Reactiesnelheid</a:t>
            </a:r>
            <a:endParaRPr lang="nl-NL" noProof="0" dirty="0"/>
          </a:p>
          <a:p>
            <a:pPr marL="285750" indent="-285750">
              <a:buFont typeface="Calibri"/>
              <a:buChar char="-"/>
            </a:pPr>
            <a:r>
              <a:rPr lang="nl-NL" noProof="0" err="1">
                <a:sym typeface="Wingdings" panose="05000000000000000000" pitchFamily="2" charset="2"/>
              </a:rPr>
              <a:t>Matched</a:t>
            </a:r>
            <a:r>
              <a:rPr lang="nl-NL" noProof="0" dirty="0">
                <a:sym typeface="Wingdings" panose="05000000000000000000" pitchFamily="2" charset="2"/>
              </a:rPr>
              <a:t> pair</a:t>
            </a:r>
            <a:endParaRPr lang="nl-NL" noProof="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dirty="0">
                <a:ea typeface="+mn-lt"/>
                <a:cs typeface="+mn-lt"/>
              </a:rPr>
              <a:t>Intuïtiever</a:t>
            </a:r>
            <a:endParaRPr lang="nl-N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23CBD3-10C1-2B0F-00D0-9E96F4F3DA8A}"/>
              </a:ext>
            </a:extLst>
          </p:cNvPr>
          <p:cNvSpPr txBox="1">
            <a:spLocks/>
          </p:cNvSpPr>
          <p:nvPr/>
        </p:nvSpPr>
        <p:spPr>
          <a:xfrm>
            <a:off x="1560150" y="1900593"/>
            <a:ext cx="664819" cy="5087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nl-NL" sz="2000" dirty="0"/>
              <a:t>LDR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C46ECB9-3663-D3A9-A753-FF4BAC4782A6}"/>
              </a:ext>
            </a:extLst>
          </p:cNvPr>
          <p:cNvSpPr txBox="1">
            <a:spLocks/>
          </p:cNvSpPr>
          <p:nvPr/>
        </p:nvSpPr>
        <p:spPr>
          <a:xfrm>
            <a:off x="3481479" y="2742106"/>
            <a:ext cx="2895600" cy="32695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Calibri"/>
              <a:buChar char="-"/>
            </a:pPr>
            <a:r>
              <a:rPr lang="nl-NL" dirty="0"/>
              <a:t>Signaal sterk verlagen</a:t>
            </a:r>
          </a:p>
          <a:p>
            <a:pPr marL="285750" indent="-285750">
              <a:buFont typeface="Calibri"/>
              <a:buChar char="-"/>
            </a:pPr>
            <a:r>
              <a:rPr lang="nl-NL" dirty="0"/>
              <a:t>Offset kan niet te groot anders kortsluiting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68B101-94CB-0F60-C71B-36EBEB7AD27F}"/>
              </a:ext>
            </a:extLst>
          </p:cNvPr>
          <p:cNvSpPr txBox="1">
            <a:spLocks/>
          </p:cNvSpPr>
          <p:nvPr/>
        </p:nvSpPr>
        <p:spPr>
          <a:xfrm>
            <a:off x="4221392" y="1902800"/>
            <a:ext cx="1603514" cy="5087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/>
              <a:t>Diode ladder</a:t>
            </a:r>
            <a:endParaRPr lang="nl-NL" sz="2000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0A81FBD-96EA-FF71-3AAB-EBC6D6F39986}"/>
              </a:ext>
            </a:extLst>
          </p:cNvPr>
          <p:cNvSpPr txBox="1">
            <a:spLocks/>
          </p:cNvSpPr>
          <p:nvPr/>
        </p:nvSpPr>
        <p:spPr>
          <a:xfrm>
            <a:off x="7211861" y="1900593"/>
            <a:ext cx="1603514" cy="5087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/>
              <a:t>Moog ladder</a:t>
            </a:r>
            <a:endParaRPr lang="nl-NL" sz="2000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DEDB699-519E-5573-3E70-F8E5D5B97A04}"/>
              </a:ext>
            </a:extLst>
          </p:cNvPr>
          <p:cNvSpPr txBox="1">
            <a:spLocks/>
          </p:cNvSpPr>
          <p:nvPr/>
        </p:nvSpPr>
        <p:spPr>
          <a:xfrm>
            <a:off x="10028851" y="1900593"/>
            <a:ext cx="1335121" cy="5087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nl-NL" sz="2000" noProof="0"/>
              <a:t>OTA-Filter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87E9F2-5C33-F451-DB65-E6B954C2B273}"/>
              </a:ext>
            </a:extLst>
          </p:cNvPr>
          <p:cNvSpPr txBox="1">
            <a:spLocks/>
          </p:cNvSpPr>
          <p:nvPr/>
        </p:nvSpPr>
        <p:spPr>
          <a:xfrm>
            <a:off x="6751613" y="2739899"/>
            <a:ext cx="2718905" cy="32695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Calibri"/>
              <a:buChar char="-"/>
            </a:pPr>
            <a:r>
              <a:rPr lang="nl-NL" dirty="0"/>
              <a:t>Transistoren i.p.v. diodes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D31DEA3-CE4D-F5E2-0C46-CD4824F7E9DD}"/>
              </a:ext>
            </a:extLst>
          </p:cNvPr>
          <p:cNvSpPr txBox="1">
            <a:spLocks/>
          </p:cNvSpPr>
          <p:nvPr/>
        </p:nvSpPr>
        <p:spPr>
          <a:xfrm>
            <a:off x="9647213" y="2739898"/>
            <a:ext cx="2895600" cy="32695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Calibri"/>
              <a:buChar char="-"/>
            </a:pPr>
            <a:r>
              <a:rPr lang="nl-NL" dirty="0"/>
              <a:t>Exotische op </a:t>
            </a:r>
            <a:r>
              <a:rPr lang="nl-NL" dirty="0" err="1"/>
              <a:t>amp</a:t>
            </a:r>
          </a:p>
        </p:txBody>
      </p:sp>
    </p:spTree>
    <p:extLst>
      <p:ext uri="{BB962C8B-B14F-4D97-AF65-F5344CB8AC3E}">
        <p14:creationId xmlns:p14="http://schemas.microsoft.com/office/powerpoint/2010/main" val="4046240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F8D8F-F0E0-30EE-AE82-8D84DF75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5029200" cy="1325563"/>
          </a:xfrm>
        </p:spPr>
        <p:txBody>
          <a:bodyPr/>
          <a:lstStyle/>
          <a:p>
            <a:r>
              <a:rPr lang="nl-NL" noProof="0"/>
              <a:t>Voldoen aan eisen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95497-90A8-3A62-E833-FC8CB3D9C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4419599" cy="32695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Laag en </a:t>
            </a:r>
            <a:r>
              <a:rPr lang="nl-NL" noProof="0" err="1"/>
              <a:t>hoogdoorlaat</a:t>
            </a:r>
            <a:endParaRPr lang="nl-NL" noProof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Kantel frequentie via potmeter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Kantel frequentie via control voltage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Bandbreedte wordt door de componenten bepaald.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Evenals de kantelfrequentie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endParaRPr lang="nl-NL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060A3-2F18-A104-1931-79826214D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25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546208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881FC-8581-D106-8EBE-0D284961E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Haalbaarheid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F03AA21-469C-BF78-D5F4-AFF569181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Goed haalbaar, vanwege gebruikelijke componenten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Afzonderlijk </a:t>
            </a:r>
            <a:r>
              <a:rPr lang="nl-NL" noProof="0" err="1"/>
              <a:t>testbaar</a:t>
            </a:r>
            <a:endParaRPr lang="nl-NL" noProof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71C8C8E-1F89-D20E-2F61-A41A098A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26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355508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78DC02-E00A-EEDF-5A0F-360A4357E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Einde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9E205D0-92A0-E066-59C2-B4817036C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dirty="0"/>
              <a:t>Zijn er nog vragen?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D132879-623D-940E-5254-AC3461E16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57204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200947B721FF49A58C58AA23D7F208" ma:contentTypeVersion="11" ma:contentTypeDescription="Een nieuw document maken." ma:contentTypeScope="" ma:versionID="9ab67885c51d5d80ef525106c61fd646">
  <xsd:schema xmlns:xsd="http://www.w3.org/2001/XMLSchema" xmlns:xs="http://www.w3.org/2001/XMLSchema" xmlns:p="http://schemas.microsoft.com/office/2006/metadata/properties" xmlns:ns2="e064670d-5742-4c0f-8169-dbc822ba4976" xmlns:ns3="61828561-ab6e-43c4-9d33-ca1b8be06404" targetNamespace="http://schemas.microsoft.com/office/2006/metadata/properties" ma:root="true" ma:fieldsID="b78c64806658e2d16f99b7b5bfff6d33" ns2:_="" ns3:_="">
    <xsd:import namespace="e064670d-5742-4c0f-8169-dbc822ba4976"/>
    <xsd:import namespace="61828561-ab6e-43c4-9d33-ca1b8be064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670d-5742-4c0f-8169-dbc822ba49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1c6a0e08-1576-455b-af28-552984f92f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828561-ab6e-43c4-9d33-ca1b8be0640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c2f1fef-6066-4c8a-bc30-4e1f5ff40335}" ma:internalName="TaxCatchAll" ma:showField="CatchAllData" ma:web="61828561-ab6e-43c4-9d33-ca1b8be064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828561-ab6e-43c4-9d33-ca1b8be06404" xsi:nil="true"/>
    <lcf76f155ced4ddcb4097134ff3c332f xmlns="e064670d-5742-4c0f-8169-dbc822ba497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33DB45-0806-49A8-B6E6-7C6C07DDEAF6}">
  <ds:schemaRefs>
    <ds:schemaRef ds:uri="61828561-ab6e-43c4-9d33-ca1b8be06404"/>
    <ds:schemaRef ds:uri="e064670d-5742-4c0f-8169-dbc822ba49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61828561-ab6e-43c4-9d33-ca1b8be06404"/>
    <ds:schemaRef ds:uri="e064670d-5742-4c0f-8169-dbc822ba497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36377b7-70c4-4493-a338-095918d327e9}" enabled="0" method="" siteId="{e36377b7-70c4-4493-a338-095918d327e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{8037F449-156A-422C-8708-6BFE7ED669AF}tf67328976_win32</Template>
  <Application>Microsoft Office PowerPoint</Application>
  <PresentationFormat>Breedbeeld</PresentationFormat>
  <Slides>27</Slides>
  <Notes>1</Notes>
  <HiddenSlides>0</HiddenSlide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27</vt:i4>
      </vt:variant>
    </vt:vector>
  </HeadingPairs>
  <TitlesOfParts>
    <vt:vector size="28" baseType="lpstr">
      <vt:lpstr>Custom</vt:lpstr>
      <vt:lpstr>Project Ingenieursbureau VCF Concepten</vt:lpstr>
      <vt:lpstr>Inhoud</vt:lpstr>
      <vt:lpstr>Inleiding</vt:lpstr>
      <vt:lpstr>Opdracht en doelstelling</vt:lpstr>
      <vt:lpstr>Programma van eisen</vt:lpstr>
      <vt:lpstr>Programma van eisen</vt:lpstr>
      <vt:lpstr>beperkingen</vt:lpstr>
      <vt:lpstr>LDR Filter (Vactrol)</vt:lpstr>
      <vt:lpstr>OTA Filter</vt:lpstr>
      <vt:lpstr>Moog Ladder</vt:lpstr>
      <vt:lpstr>Diode ladder</vt:lpstr>
      <vt:lpstr>Diode ladder</vt:lpstr>
      <vt:lpstr>Diode ladder</vt:lpstr>
      <vt:lpstr>Diode Ladder</vt:lpstr>
      <vt:lpstr>Diode ladder</vt:lpstr>
      <vt:lpstr>Diode ladder</vt:lpstr>
      <vt:lpstr>PowerPoint-presentatie</vt:lpstr>
      <vt:lpstr>Diode Ladder</vt:lpstr>
      <vt:lpstr>Diode Ladder</vt:lpstr>
      <vt:lpstr>Diode Ladder</vt:lpstr>
      <vt:lpstr>Diode Ladder</vt:lpstr>
      <vt:lpstr>Diode Ladder</vt:lpstr>
      <vt:lpstr>Diode ladder</vt:lpstr>
      <vt:lpstr>Concepten vergelijken</vt:lpstr>
      <vt:lpstr>Voldoen aan eisen</vt:lpstr>
      <vt:lpstr>Haalbaarheid</vt:lpstr>
      <vt:lpstr>Einde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Jens Kuizenga (student)</dc:creator>
  <cp:revision>362</cp:revision>
  <dcterms:created xsi:type="dcterms:W3CDTF">2024-09-09T08:38:26Z</dcterms:created>
  <dcterms:modified xsi:type="dcterms:W3CDTF">2024-09-24T19:34:31Z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0x010100C0200947B721FF49A58C58AA23D7F208</vt:lpwstr>
  </property>
  <property fmtid="{D5CDD505-2E9C-101B-9397-08002B2CF9AE}" pid="3" name="MediaServiceImageTags">
    <vt:lpwstr/>
  </property>
</Properties>
</file>